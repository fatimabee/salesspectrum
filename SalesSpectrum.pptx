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6" r:id="rId10"/>
    <p:sldId id="265" r:id="rId11"/>
  </p:sldIdLst>
  <p:sldSz cx="18288000" cy="10287000"/>
  <p:notesSz cx="6858000" cy="9144000"/>
  <p:embeddedFontLst>
    <p:embeddedFont>
      <p:font typeface="Fry's Baskerville" panose="020B0604020202020204" charset="0"/>
      <p:regular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Open Sans Bold" panose="020B0806030504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C3434-38E3-4E89-BDE1-93ECB213D47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347635-9FD6-499C-AFBA-DDA3948E2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65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347635-9FD6-499C-AFBA-DDA3948E2B4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225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1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8266">
                <a:alpha val="51000"/>
              </a:srgbClr>
            </a:gs>
            <a:gs pos="100000">
              <a:srgbClr val="FFDE59">
                <a:alpha val="205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22583" y="3535290"/>
            <a:ext cx="8823170" cy="7251042"/>
          </a:xfrm>
          <a:custGeom>
            <a:avLst/>
            <a:gdLst/>
            <a:ahLst/>
            <a:cxnLst/>
            <a:rect l="l" t="t" r="r" b="b"/>
            <a:pathLst>
              <a:path w="8823170" h="7251042">
                <a:moveTo>
                  <a:pt x="0" y="0"/>
                </a:moveTo>
                <a:lnTo>
                  <a:pt x="8823170" y="0"/>
                </a:lnTo>
                <a:lnTo>
                  <a:pt x="8823170" y="7251042"/>
                </a:lnTo>
                <a:lnTo>
                  <a:pt x="0" y="7251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7989">
            <a:off x="15084686" y="6715833"/>
            <a:ext cx="1146209" cy="1093913"/>
          </a:xfrm>
          <a:custGeom>
            <a:avLst/>
            <a:gdLst/>
            <a:ahLst/>
            <a:cxnLst/>
            <a:rect l="l" t="t" r="r" b="b"/>
            <a:pathLst>
              <a:path w="1146209" h="1093913">
                <a:moveTo>
                  <a:pt x="0" y="0"/>
                </a:moveTo>
                <a:lnTo>
                  <a:pt x="1146209" y="0"/>
                </a:lnTo>
                <a:lnTo>
                  <a:pt x="1146209" y="1093913"/>
                </a:lnTo>
                <a:lnTo>
                  <a:pt x="0" y="1093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79065" y="6023887"/>
            <a:ext cx="4402635" cy="4402635"/>
          </a:xfrm>
          <a:custGeom>
            <a:avLst/>
            <a:gdLst/>
            <a:ahLst/>
            <a:cxnLst/>
            <a:rect l="l" t="t" r="r" b="b"/>
            <a:pathLst>
              <a:path w="4402635" h="4402635">
                <a:moveTo>
                  <a:pt x="4402635" y="0"/>
                </a:moveTo>
                <a:lnTo>
                  <a:pt x="0" y="0"/>
                </a:lnTo>
                <a:lnTo>
                  <a:pt x="0" y="4402635"/>
                </a:lnTo>
                <a:lnTo>
                  <a:pt x="4402635" y="4402635"/>
                </a:lnTo>
                <a:lnTo>
                  <a:pt x="44026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66743" y="3535290"/>
            <a:ext cx="2562396" cy="2243591"/>
          </a:xfrm>
          <a:custGeom>
            <a:avLst/>
            <a:gdLst/>
            <a:ahLst/>
            <a:cxnLst/>
            <a:rect l="l" t="t" r="r" b="b"/>
            <a:pathLst>
              <a:path w="2562396" h="2243591">
                <a:moveTo>
                  <a:pt x="0" y="0"/>
                </a:moveTo>
                <a:lnTo>
                  <a:pt x="2562396" y="0"/>
                </a:lnTo>
                <a:lnTo>
                  <a:pt x="2562396" y="2243591"/>
                </a:lnTo>
                <a:lnTo>
                  <a:pt x="0" y="22435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164430" y="6023887"/>
            <a:ext cx="4402635" cy="4402635"/>
          </a:xfrm>
          <a:custGeom>
            <a:avLst/>
            <a:gdLst/>
            <a:ahLst/>
            <a:cxnLst/>
            <a:rect l="l" t="t" r="r" b="b"/>
            <a:pathLst>
              <a:path w="4402635" h="4402635">
                <a:moveTo>
                  <a:pt x="0" y="0"/>
                </a:moveTo>
                <a:lnTo>
                  <a:pt x="4402635" y="0"/>
                </a:lnTo>
                <a:lnTo>
                  <a:pt x="4402635" y="4402635"/>
                </a:lnTo>
                <a:lnTo>
                  <a:pt x="0" y="4402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069679" y="1152525"/>
            <a:ext cx="12148641" cy="1588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09"/>
              </a:lnSpc>
            </a:pPr>
            <a:r>
              <a:rPr lang="en-US" sz="6600" dirty="0" err="1">
                <a:latin typeface="Fry's Baskerville" panose="020B0604020202020204" charset="0"/>
              </a:rPr>
              <a:t>SalesSpectrum</a:t>
            </a:r>
            <a:r>
              <a:rPr lang="en-US" sz="6600" dirty="0">
                <a:latin typeface="Fry's Baskerville" panose="020B0604020202020204" charset="0"/>
              </a:rPr>
              <a:t> – Retail Sales Analysis using SQL</a:t>
            </a:r>
            <a:endParaRPr lang="en-US" sz="6363" dirty="0">
              <a:solidFill>
                <a:srgbClr val="252525"/>
              </a:solidFill>
              <a:latin typeface="Fry's Baskerville" panose="020B0604020202020204" charset="0"/>
              <a:ea typeface="Luckiest Guy"/>
              <a:cs typeface="Luckiest Guy"/>
              <a:sym typeface="Luckiest Guy"/>
            </a:endParaRPr>
          </a:p>
        </p:txBody>
      </p:sp>
      <p:sp>
        <p:nvSpPr>
          <p:cNvPr id="8" name="Freeform 8"/>
          <p:cNvSpPr/>
          <p:nvPr/>
        </p:nvSpPr>
        <p:spPr>
          <a:xfrm rot="1204850">
            <a:off x="2288557" y="6766434"/>
            <a:ext cx="1118768" cy="1306417"/>
          </a:xfrm>
          <a:custGeom>
            <a:avLst/>
            <a:gdLst/>
            <a:ahLst/>
            <a:cxnLst/>
            <a:rect l="l" t="t" r="r" b="b"/>
            <a:pathLst>
              <a:path w="1118768" h="1306417">
                <a:moveTo>
                  <a:pt x="0" y="0"/>
                </a:moveTo>
                <a:lnTo>
                  <a:pt x="1118768" y="0"/>
                </a:lnTo>
                <a:lnTo>
                  <a:pt x="1118768" y="1306418"/>
                </a:lnTo>
                <a:lnTo>
                  <a:pt x="0" y="1306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892771" flipH="1">
            <a:off x="15098406" y="2882082"/>
            <a:ext cx="1118768" cy="1306417"/>
          </a:xfrm>
          <a:custGeom>
            <a:avLst/>
            <a:gdLst/>
            <a:ahLst/>
            <a:cxnLst/>
            <a:rect l="l" t="t" r="r" b="b"/>
            <a:pathLst>
              <a:path w="1118768" h="1306417">
                <a:moveTo>
                  <a:pt x="1118768" y="0"/>
                </a:moveTo>
                <a:lnTo>
                  <a:pt x="0" y="0"/>
                </a:lnTo>
                <a:lnTo>
                  <a:pt x="0" y="1306417"/>
                </a:lnTo>
                <a:lnTo>
                  <a:pt x="1118768" y="1306417"/>
                </a:lnTo>
                <a:lnTo>
                  <a:pt x="111876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597596" y="3131515"/>
            <a:ext cx="10295718" cy="433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33"/>
              </a:lnSpc>
            </a:pPr>
            <a:r>
              <a:rPr lang="en-US" sz="3804" b="1" dirty="0">
                <a:solidFill>
                  <a:schemeClr val="accent6">
                    <a:lumMod val="50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Presented By: Shaikh Fatima Bee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476257" y="1270514"/>
            <a:ext cx="1011481" cy="101148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5102" y="2685952"/>
            <a:ext cx="849339" cy="84933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8266">
                <a:alpha val="34000"/>
              </a:srgbClr>
            </a:gs>
            <a:gs pos="100000">
              <a:srgbClr val="FFDE59">
                <a:alpha val="31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5454" y="-1057467"/>
            <a:ext cx="8593148" cy="859314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72716" y="487837"/>
            <a:ext cx="2053742" cy="354893"/>
            <a:chOff x="0" y="0"/>
            <a:chExt cx="1015246" cy="175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5246" cy="175438"/>
            </a:xfrm>
            <a:custGeom>
              <a:avLst/>
              <a:gdLst/>
              <a:ahLst/>
              <a:cxnLst/>
              <a:rect l="l" t="t" r="r" b="b"/>
              <a:pathLst>
                <a:path w="1015246" h="175438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5E79D">
                <a:alpha val="37647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544459" y="487837"/>
            <a:ext cx="481998" cy="354893"/>
            <a:chOff x="0" y="0"/>
            <a:chExt cx="238271" cy="1754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271" cy="175438"/>
            </a:xfrm>
            <a:custGeom>
              <a:avLst/>
              <a:gdLst/>
              <a:ahLst/>
              <a:cxnLst/>
              <a:rect l="l" t="t" r="r" b="b"/>
              <a:pathLst>
                <a:path w="238271" h="175438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7C696">
                <a:alpha val="83922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675410" y="619366"/>
            <a:ext cx="220097" cy="91835"/>
          </a:xfrm>
          <a:custGeom>
            <a:avLst/>
            <a:gdLst/>
            <a:ahLst/>
            <a:cxnLst/>
            <a:rect l="l" t="t" r="r" b="b"/>
            <a:pathLst>
              <a:path w="220097" h="91835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0058400" y="1028700"/>
            <a:ext cx="7715250" cy="7715250"/>
          </a:xfrm>
          <a:custGeom>
            <a:avLst/>
            <a:gdLst/>
            <a:ahLst/>
            <a:cxnLst/>
            <a:rect l="l" t="t" r="r" b="b"/>
            <a:pathLst>
              <a:path w="7715250" h="7715250">
                <a:moveTo>
                  <a:pt x="7715250" y="0"/>
                </a:moveTo>
                <a:lnTo>
                  <a:pt x="0" y="0"/>
                </a:lnTo>
                <a:lnTo>
                  <a:pt x="0" y="7715250"/>
                </a:lnTo>
                <a:lnTo>
                  <a:pt x="7715250" y="7715250"/>
                </a:lnTo>
                <a:lnTo>
                  <a:pt x="771525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819400" y="1252894"/>
            <a:ext cx="5638800" cy="766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sz="7200" b="1" dirty="0">
                <a:solidFill>
                  <a:srgbClr val="252525"/>
                </a:solidFill>
                <a:latin typeface="Fry's Baskerville" panose="020B0604020202020204" charset="0"/>
                <a:ea typeface="Luckiest Guy"/>
                <a:cs typeface="Luckiest Guy"/>
                <a:sym typeface="Luckiest Guy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972716" y="591810"/>
            <a:ext cx="1571743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9467850"/>
            <a:ext cx="1050584" cy="60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3832" y="2947332"/>
            <a:ext cx="9105232" cy="5663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 err="1">
                <a:latin typeface="Fry's Baskerville" panose="020B0604020202020204" charset="0"/>
              </a:rPr>
              <a:t>SalesSpectrum</a:t>
            </a:r>
            <a:r>
              <a:rPr lang="en-US" sz="2800" b="1" dirty="0">
                <a:latin typeface="Fry's Baskerville" panose="020B0604020202020204" charset="0"/>
              </a:rPr>
              <a:t> – Retail Sales Analysis using SQL</a:t>
            </a:r>
          </a:p>
          <a:p>
            <a:endParaRPr lang="en-US" sz="2800" dirty="0">
              <a:latin typeface="Fry's Baskervill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Fry's Baskerville" panose="020B0604020202020204" charset="0"/>
              </a:rPr>
              <a:t>SalesSpectrum</a:t>
            </a:r>
            <a:r>
              <a:rPr lang="en-US" sz="2800" dirty="0">
                <a:latin typeface="Fry's Baskerville" panose="020B0604020202020204" charset="0"/>
              </a:rPr>
              <a:t> is a SQL-based project focused on analyzing </a:t>
            </a:r>
            <a:r>
              <a:rPr lang="en-US" sz="3200" dirty="0">
                <a:latin typeface="Fry's Baskerville" panose="020B0604020202020204" charset="0"/>
              </a:rPr>
              <a:t>retail</a:t>
            </a:r>
            <a:r>
              <a:rPr lang="en-US" sz="2800" dirty="0">
                <a:latin typeface="Fry's Baskerville" panose="020B0604020202020204" charset="0"/>
              </a:rPr>
              <a:t> sales data.</a:t>
            </a:r>
          </a:p>
          <a:p>
            <a:endParaRPr lang="en-US" sz="2800" dirty="0">
              <a:latin typeface="Fry's Baskervill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ry's Baskerville" panose="020B0604020202020204" charset="0"/>
              </a:rPr>
              <a:t>The dataset includes product details, monthly demand, pricing, and total sales value </a:t>
            </a:r>
          </a:p>
          <a:p>
            <a:endParaRPr lang="en-US" sz="2800" dirty="0">
              <a:latin typeface="Fry's Baskervill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ry's Baskerville" panose="020B0604020202020204" charset="0"/>
              </a:rPr>
              <a:t>The project uses SQL queries to extract meaningful insights from structured data </a:t>
            </a:r>
          </a:p>
          <a:p>
            <a:endParaRPr lang="en-US" sz="2800" dirty="0">
              <a:latin typeface="Fry's Baskervill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Fry's Baskerville" panose="020B0604020202020204" charset="0"/>
              </a:rPr>
              <a:t>It helps in understanding product performance and revenue trends </a:t>
            </a:r>
          </a:p>
        </p:txBody>
      </p:sp>
      <p:sp>
        <p:nvSpPr>
          <p:cNvPr id="19" name="Freeform 19"/>
          <p:cNvSpPr/>
          <p:nvPr/>
        </p:nvSpPr>
        <p:spPr>
          <a:xfrm>
            <a:off x="15700632" y="8892752"/>
            <a:ext cx="1558668" cy="189874"/>
          </a:xfrm>
          <a:custGeom>
            <a:avLst/>
            <a:gdLst/>
            <a:ahLst/>
            <a:cxnLst/>
            <a:rect l="l" t="t" r="r" b="b"/>
            <a:pathLst>
              <a:path w="1558668" h="189874">
                <a:moveTo>
                  <a:pt x="0" y="0"/>
                </a:moveTo>
                <a:lnTo>
                  <a:pt x="1558668" y="0"/>
                </a:lnTo>
                <a:lnTo>
                  <a:pt x="1558668" y="189874"/>
                </a:lnTo>
                <a:lnTo>
                  <a:pt x="0" y="189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0058400" y="7953284"/>
            <a:ext cx="3420413" cy="3420413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-699139" y="1028700"/>
            <a:ext cx="1398278" cy="1398278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868986" y="7791832"/>
            <a:ext cx="1466468" cy="1466468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-122182" y="6724176"/>
            <a:ext cx="821321" cy="2168576"/>
          </a:xfrm>
          <a:custGeom>
            <a:avLst/>
            <a:gdLst/>
            <a:ahLst/>
            <a:cxnLst/>
            <a:rect l="l" t="t" r="r" b="b"/>
            <a:pathLst>
              <a:path w="821321" h="2168576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31000"/>
              </a:srgbClr>
            </a:gs>
            <a:gs pos="100000">
              <a:srgbClr val="FF8266">
                <a:alpha val="34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72716" y="487837"/>
            <a:ext cx="2053742" cy="354893"/>
            <a:chOff x="0" y="0"/>
            <a:chExt cx="1015246" cy="1754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5246" cy="175438"/>
            </a:xfrm>
            <a:custGeom>
              <a:avLst/>
              <a:gdLst/>
              <a:ahLst/>
              <a:cxnLst/>
              <a:rect l="l" t="t" r="r" b="b"/>
              <a:pathLst>
                <a:path w="1015246" h="175438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544459" y="487837"/>
            <a:ext cx="481998" cy="354893"/>
            <a:chOff x="0" y="0"/>
            <a:chExt cx="238271" cy="175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271" cy="175438"/>
            </a:xfrm>
            <a:custGeom>
              <a:avLst/>
              <a:gdLst/>
              <a:ahLst/>
              <a:cxnLst/>
              <a:rect l="l" t="t" r="r" b="b"/>
              <a:pathLst>
                <a:path w="238271" h="175438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FFFFF">
                <a:alpha val="8392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75410" y="619366"/>
            <a:ext cx="220097" cy="91835"/>
          </a:xfrm>
          <a:custGeom>
            <a:avLst/>
            <a:gdLst/>
            <a:ahLst/>
            <a:cxnLst/>
            <a:rect l="l" t="t" r="r" b="b"/>
            <a:pathLst>
              <a:path w="220097" h="91835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2487303" y="2639590"/>
            <a:ext cx="8593148" cy="859314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-430133" y="1931086"/>
            <a:ext cx="7290674" cy="7184628"/>
          </a:xfrm>
          <a:custGeom>
            <a:avLst/>
            <a:gdLst/>
            <a:ahLst/>
            <a:cxnLst/>
            <a:rect l="l" t="t" r="r" b="b"/>
            <a:pathLst>
              <a:path w="7290674" h="7184628">
                <a:moveTo>
                  <a:pt x="0" y="0"/>
                </a:moveTo>
                <a:lnTo>
                  <a:pt x="7290674" y="0"/>
                </a:lnTo>
                <a:lnTo>
                  <a:pt x="7290674" y="7184628"/>
                </a:lnTo>
                <a:lnTo>
                  <a:pt x="0" y="71846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4972716" y="591810"/>
            <a:ext cx="1571743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02083" y="1597982"/>
            <a:ext cx="7450755" cy="766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sz="7200" b="1" dirty="0">
                <a:solidFill>
                  <a:srgbClr val="252525"/>
                </a:solidFill>
                <a:latin typeface="Fry's Baskerville" panose="020B0604020202020204" charset="0"/>
                <a:sym typeface="Luckiest Guy"/>
              </a:rPr>
              <a:t>Objective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944529" y="8082885"/>
            <a:ext cx="3420413" cy="342041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259300" y="1587460"/>
            <a:ext cx="1398278" cy="1398278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501165" y="9467850"/>
            <a:ext cx="1050584" cy="60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02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4631708" y="8351780"/>
            <a:ext cx="906520" cy="90652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7551749" y="6724176"/>
            <a:ext cx="821321" cy="2168576"/>
          </a:xfrm>
          <a:custGeom>
            <a:avLst/>
            <a:gdLst/>
            <a:ahLst/>
            <a:cxnLst/>
            <a:rect l="l" t="t" r="r" b="b"/>
            <a:pathLst>
              <a:path w="821321" h="2168576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19D1506B-173C-F35F-1CAB-51433D93F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5646" y="2899953"/>
            <a:ext cx="83058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Fry's Baskerville" panose="020B0604020202020204" charset="0"/>
              </a:rPr>
              <a:t>To analyze product-level sales performance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Fry's Baskerville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Fry's Baskerville" panose="020B0604020202020204" charset="0"/>
              </a:rPr>
              <a:t>To identify top and low-performing products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Fry's Baskerville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Fry's Baskerville" panose="020B0604020202020204" charset="0"/>
              </a:rPr>
              <a:t>To </a:t>
            </a:r>
            <a:r>
              <a:rPr lang="en-US" altLang="en-US" sz="3200" b="1" dirty="0">
                <a:latin typeface="Fry's Baskerville" panose="020B0604020202020204" charset="0"/>
              </a:rPr>
              <a:t>evaluate</a:t>
            </a:r>
            <a:r>
              <a:rPr lang="en-US" altLang="en-US" sz="3200" dirty="0">
                <a:latin typeface="Fry's Baskerville" panose="020B0604020202020204" charset="0"/>
              </a:rPr>
              <a:t> </a:t>
            </a:r>
            <a:r>
              <a:rPr lang="en-US" altLang="en-US" sz="3200" b="1" dirty="0">
                <a:latin typeface="Fry's Baskerville" panose="020B0604020202020204" charset="0"/>
              </a:rPr>
              <a:t>category-wise</a:t>
            </a:r>
            <a:r>
              <a:rPr lang="en-US" altLang="en-US" sz="3200" dirty="0">
                <a:latin typeface="Fry's Baskerville" panose="020B0604020202020204" charset="0"/>
              </a:rPr>
              <a:t> revenue distribution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Fry's Baskerville" panose="020B060402020202020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Fry's Baskerville" panose="020B0604020202020204" charset="0"/>
              </a:rPr>
              <a:t>To analyze monthly demand trends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Fry's Baskerville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Fry's Baskerville" panose="020B0604020202020204" charset="0"/>
              </a:rPr>
              <a:t>To apply SQL concepts like aggregation, sorting, subqueries, and grouping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8266">
                <a:alpha val="34000"/>
              </a:srgbClr>
            </a:gs>
            <a:gs pos="100000">
              <a:srgbClr val="FFDE59">
                <a:alpha val="31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5454" y="-1057467"/>
            <a:ext cx="8593148" cy="859314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72716" y="487837"/>
            <a:ext cx="2053742" cy="354893"/>
            <a:chOff x="0" y="0"/>
            <a:chExt cx="1015246" cy="175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5246" cy="175438"/>
            </a:xfrm>
            <a:custGeom>
              <a:avLst/>
              <a:gdLst/>
              <a:ahLst/>
              <a:cxnLst/>
              <a:rect l="l" t="t" r="r" b="b"/>
              <a:pathLst>
                <a:path w="1015246" h="175438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5E79D">
                <a:alpha val="37647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544459" y="487837"/>
            <a:ext cx="481998" cy="354893"/>
            <a:chOff x="0" y="0"/>
            <a:chExt cx="238271" cy="1754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271" cy="175438"/>
            </a:xfrm>
            <a:custGeom>
              <a:avLst/>
              <a:gdLst/>
              <a:ahLst/>
              <a:cxnLst/>
              <a:rect l="l" t="t" r="r" b="b"/>
              <a:pathLst>
                <a:path w="238271" h="175438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7C696">
                <a:alpha val="83922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675410" y="619366"/>
            <a:ext cx="220097" cy="91835"/>
          </a:xfrm>
          <a:custGeom>
            <a:avLst/>
            <a:gdLst/>
            <a:ahLst/>
            <a:cxnLst/>
            <a:rect l="l" t="t" r="r" b="b"/>
            <a:pathLst>
              <a:path w="220097" h="91835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700632" y="8892752"/>
            <a:ext cx="1558668" cy="189874"/>
          </a:xfrm>
          <a:custGeom>
            <a:avLst/>
            <a:gdLst/>
            <a:ahLst/>
            <a:cxnLst/>
            <a:rect l="l" t="t" r="r" b="b"/>
            <a:pathLst>
              <a:path w="1558668" h="189874">
                <a:moveTo>
                  <a:pt x="0" y="0"/>
                </a:moveTo>
                <a:lnTo>
                  <a:pt x="1558668" y="0"/>
                </a:lnTo>
                <a:lnTo>
                  <a:pt x="1558668" y="189874"/>
                </a:lnTo>
                <a:lnTo>
                  <a:pt x="0" y="189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058400" y="7953284"/>
            <a:ext cx="3420413" cy="342041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699139" y="1028700"/>
            <a:ext cx="1398278" cy="139827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868986" y="7791832"/>
            <a:ext cx="1466468" cy="1466468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C4D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-122182" y="6724176"/>
            <a:ext cx="821321" cy="2168576"/>
          </a:xfrm>
          <a:custGeom>
            <a:avLst/>
            <a:gdLst/>
            <a:ahLst/>
            <a:cxnLst/>
            <a:rect l="l" t="t" r="r" b="b"/>
            <a:pathLst>
              <a:path w="821321" h="2168576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H="1">
            <a:off x="10953750" y="1204160"/>
            <a:ext cx="6761818" cy="6331520"/>
          </a:xfrm>
          <a:custGeom>
            <a:avLst/>
            <a:gdLst/>
            <a:ahLst/>
            <a:cxnLst/>
            <a:rect l="l" t="t" r="r" b="b"/>
            <a:pathLst>
              <a:path w="6761818" h="6331520">
                <a:moveTo>
                  <a:pt x="6761818" y="0"/>
                </a:moveTo>
                <a:lnTo>
                  <a:pt x="0" y="0"/>
                </a:lnTo>
                <a:lnTo>
                  <a:pt x="0" y="6331520"/>
                </a:lnTo>
                <a:lnTo>
                  <a:pt x="6761818" y="6331520"/>
                </a:lnTo>
                <a:lnTo>
                  <a:pt x="676181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209037" y="2868320"/>
            <a:ext cx="9737339" cy="74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5427" b="1" dirty="0">
                <a:solidFill>
                  <a:srgbClr val="252525"/>
                </a:solidFill>
                <a:latin typeface="Fry's Baskerville" panose="020B0604020202020204" charset="0"/>
                <a:ea typeface="Luckiest Guy"/>
                <a:cs typeface="Luckiest Guy"/>
                <a:sym typeface="Luckiest Guy"/>
              </a:rPr>
              <a:t>Problem Statements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972716" y="591810"/>
            <a:ext cx="1571743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9467850"/>
            <a:ext cx="1050584" cy="60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3301" y="4180543"/>
            <a:ext cx="8460284" cy="4344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latin typeface="Fry's Baskerville" panose="020B0604020202020204" charset="0"/>
              </a:rPr>
              <a:t>Businesses face difficulty in: 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Fry's Baskerville" panose="020B0604020202020204" charset="0"/>
              </a:rPr>
              <a:t>Identifying high-revenue products 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Fry's Baskerville" panose="020B0604020202020204" charset="0"/>
              </a:rPr>
              <a:t>Tracking monthly demand patterns 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Fry's Baskerville" panose="020B0604020202020204" charset="0"/>
              </a:rPr>
              <a:t>Understanding category performance 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Fry's Baskerville" panose="020B0604020202020204" charset="0"/>
              </a:rPr>
              <a:t>Making data-driven decisions 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Fry's Baskerville" panose="020B0604020202020204" charset="0"/>
              </a:rPr>
              <a:t>Raw data does not provide insights directly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31000"/>
              </a:srgbClr>
            </a:gs>
            <a:gs pos="100000">
              <a:srgbClr val="D187D0">
                <a:alpha val="34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72716" y="487837"/>
            <a:ext cx="2053742" cy="354893"/>
            <a:chOff x="0" y="0"/>
            <a:chExt cx="1015246" cy="1754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5246" cy="175438"/>
            </a:xfrm>
            <a:custGeom>
              <a:avLst/>
              <a:gdLst/>
              <a:ahLst/>
              <a:cxnLst/>
              <a:rect l="l" t="t" r="r" b="b"/>
              <a:pathLst>
                <a:path w="1015246" h="175438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544459" y="487837"/>
            <a:ext cx="481998" cy="354893"/>
            <a:chOff x="0" y="0"/>
            <a:chExt cx="238271" cy="175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271" cy="175438"/>
            </a:xfrm>
            <a:custGeom>
              <a:avLst/>
              <a:gdLst/>
              <a:ahLst/>
              <a:cxnLst/>
              <a:rect l="l" t="t" r="r" b="b"/>
              <a:pathLst>
                <a:path w="238271" h="175438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FFFFF">
                <a:alpha val="8392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75410" y="619366"/>
            <a:ext cx="220097" cy="91835"/>
          </a:xfrm>
          <a:custGeom>
            <a:avLst/>
            <a:gdLst/>
            <a:ahLst/>
            <a:cxnLst/>
            <a:rect l="l" t="t" r="r" b="b"/>
            <a:pathLst>
              <a:path w="220097" h="91835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972446" y="2278979"/>
            <a:ext cx="8593148" cy="859314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944529" y="8082885"/>
            <a:ext cx="3420413" cy="342041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1587460"/>
            <a:ext cx="1398278" cy="1398278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631708" y="8351780"/>
            <a:ext cx="906520" cy="90652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80F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7551749" y="6724176"/>
            <a:ext cx="821321" cy="2168576"/>
          </a:xfrm>
          <a:custGeom>
            <a:avLst/>
            <a:gdLst/>
            <a:ahLst/>
            <a:cxnLst/>
            <a:rect l="l" t="t" r="r" b="b"/>
            <a:pathLst>
              <a:path w="821321" h="2168576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4972716" y="591810"/>
            <a:ext cx="1571743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46254" y="459259"/>
            <a:ext cx="7818094" cy="766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sz="7200" b="1" dirty="0">
                <a:solidFill>
                  <a:srgbClr val="252525"/>
                </a:solidFill>
                <a:latin typeface="Fry's Baskerville" panose="020B0604020202020204" charset="0"/>
                <a:sym typeface="Luckiest Guy"/>
              </a:rPr>
              <a:t>Solutions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501165" y="9467850"/>
            <a:ext cx="1050584" cy="60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04</a:t>
            </a: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BFEE1CF8-26EE-A7B4-FA6A-6FA728BA7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4DC3440C-2C0A-CCCF-D06A-F28DE9F9F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0672" y="1906224"/>
            <a:ext cx="5824286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y's Baskerville" panose="020B0604020202020204" charset="0"/>
            </a:endParaRPr>
          </a:p>
          <a:p>
            <a:r>
              <a:rPr lang="en-US" sz="2800" b="1" dirty="0">
                <a:latin typeface="Fry's Baskerville" panose="020B0604020202020204" charset="0"/>
              </a:rPr>
              <a:t>1. Product Performance Analysis</a:t>
            </a:r>
          </a:p>
          <a:p>
            <a:r>
              <a:rPr lang="en-US" sz="2800" dirty="0">
                <a:latin typeface="Fry's Baskerville" panose="020B0604020202020204" charset="0"/>
              </a:rPr>
              <a:t>Identified </a:t>
            </a:r>
            <a:r>
              <a:rPr lang="en-US" sz="2800" b="1" dirty="0">
                <a:latin typeface="Fry's Baskerville" panose="020B0604020202020204" charset="0"/>
              </a:rPr>
              <a:t>Top 5 revenue-generating products</a:t>
            </a:r>
            <a:r>
              <a:rPr lang="en-US" sz="2800" dirty="0">
                <a:latin typeface="Fry's Baskerville" panose="020B0604020202020204" charset="0"/>
              </a:rPr>
              <a:t> → Key revenue drivers </a:t>
            </a:r>
          </a:p>
          <a:p>
            <a:r>
              <a:rPr lang="en-US" sz="2800" dirty="0">
                <a:latin typeface="Fry's Baskerville" panose="020B0604020202020204" charset="0"/>
              </a:rPr>
              <a:t>Identified </a:t>
            </a:r>
            <a:r>
              <a:rPr lang="en-US" sz="2800" b="1" dirty="0">
                <a:latin typeface="Fry's Baskerville" panose="020B0604020202020204" charset="0"/>
              </a:rPr>
              <a:t>Bottom 5 low-performing products</a:t>
            </a:r>
            <a:r>
              <a:rPr lang="en-US" sz="2800" dirty="0">
                <a:latin typeface="Fry's Baskerville" panose="020B0604020202020204" charset="0"/>
              </a:rPr>
              <a:t> → Require improvement or removal </a:t>
            </a:r>
          </a:p>
          <a:p>
            <a:endParaRPr lang="en-US" sz="2800" dirty="0">
              <a:latin typeface="Fry's Baskerville" panose="020B0604020202020204" charset="0"/>
            </a:endParaRPr>
          </a:p>
          <a:p>
            <a:r>
              <a:rPr lang="en-US" sz="2800" b="1" dirty="0">
                <a:latin typeface="Fry's Baskerville" panose="020B0604020202020204" charset="0"/>
              </a:rPr>
              <a:t>2. Pricing vs Sales Analysis</a:t>
            </a:r>
          </a:p>
          <a:p>
            <a:r>
              <a:rPr lang="en-US" sz="2800" dirty="0">
                <a:latin typeface="Fry's Baskerville" panose="020B0604020202020204" charset="0"/>
              </a:rPr>
              <a:t>Found </a:t>
            </a:r>
            <a:r>
              <a:rPr lang="en-US" sz="2800" b="1" dirty="0">
                <a:latin typeface="Fry's Baskerville" panose="020B0604020202020204" charset="0"/>
              </a:rPr>
              <a:t>highest priced product</a:t>
            </a:r>
            <a:r>
              <a:rPr lang="en-US" sz="2800" dirty="0">
                <a:latin typeface="Fry's Baskerville" panose="020B0604020202020204" charset="0"/>
              </a:rPr>
              <a:t> → Evaluated impact of price on sales performance </a:t>
            </a:r>
          </a:p>
          <a:p>
            <a:r>
              <a:rPr lang="en-US" sz="2800" dirty="0">
                <a:latin typeface="Fry's Baskerville" panose="020B0604020202020204" charset="0"/>
              </a:rPr>
              <a:t>Calculated </a:t>
            </a:r>
            <a:r>
              <a:rPr lang="en-US" sz="2800" b="1" dirty="0">
                <a:latin typeface="Fry's Baskerville" panose="020B0604020202020204" charset="0"/>
              </a:rPr>
              <a:t>average price per category</a:t>
            </a:r>
            <a:r>
              <a:rPr lang="en-US" sz="2800" dirty="0">
                <a:latin typeface="Fry's Baskerville" panose="020B0604020202020204" charset="0"/>
              </a:rPr>
              <a:t> → Compared pricing across categories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y's Baskerville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y's Baskerville" panose="020B0604020202020204" charset="0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5D7CB747-DFFF-1186-9CF2-210ACFF89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1634" y="2412727"/>
            <a:ext cx="615659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Fry's Baskerville" panose="020B0604020202020204" charset="0"/>
              </a:rPr>
              <a:t>3. Category-Level Insights</a:t>
            </a:r>
          </a:p>
          <a:p>
            <a:r>
              <a:rPr lang="en-US" sz="2800" dirty="0">
                <a:latin typeface="Fry's Baskerville" panose="020B0604020202020204" charset="0"/>
              </a:rPr>
              <a:t>Calculated </a:t>
            </a:r>
            <a:r>
              <a:rPr lang="en-US" sz="2800" b="1" dirty="0">
                <a:latin typeface="Fry's Baskerville" panose="020B0604020202020204" charset="0"/>
              </a:rPr>
              <a:t>category-wise total revenue</a:t>
            </a:r>
            <a:r>
              <a:rPr lang="en-US" sz="2800" dirty="0">
                <a:latin typeface="Fry's Baskerville" panose="020B0604020202020204" charset="0"/>
              </a:rPr>
              <a:t> → Identified top contributing categories </a:t>
            </a:r>
          </a:p>
          <a:p>
            <a:r>
              <a:rPr lang="en-US" sz="2800" dirty="0">
                <a:latin typeface="Fry's Baskerville" panose="020B0604020202020204" charset="0"/>
              </a:rPr>
              <a:t>Compared </a:t>
            </a:r>
            <a:r>
              <a:rPr lang="en-US" sz="2800" b="1" dirty="0">
                <a:latin typeface="Fry's Baskerville" panose="020B0604020202020204" charset="0"/>
              </a:rPr>
              <a:t>product performance within categories</a:t>
            </a:r>
            <a:r>
              <a:rPr lang="en-US" sz="2800" dirty="0">
                <a:latin typeface="Fry's Baskerville" panose="020B0604020202020204" charset="0"/>
              </a:rPr>
              <a:t> → Determined most profitable segments </a:t>
            </a:r>
          </a:p>
          <a:p>
            <a:endParaRPr lang="en-US" sz="2800" dirty="0">
              <a:latin typeface="Fry's Baskerville" panose="020B0604020202020204" charset="0"/>
            </a:endParaRPr>
          </a:p>
          <a:p>
            <a:r>
              <a:rPr lang="en-US" sz="2800" b="1" dirty="0">
                <a:latin typeface="Fry's Baskerville" panose="020B0604020202020204" charset="0"/>
              </a:rPr>
              <a:t>4.  Advanced Analysis</a:t>
            </a:r>
          </a:p>
          <a:p>
            <a:r>
              <a:rPr lang="en-US" sz="2800" dirty="0">
                <a:latin typeface="Fry's Baskerville" panose="020B0604020202020204" charset="0"/>
              </a:rPr>
              <a:t>Identified </a:t>
            </a:r>
            <a:r>
              <a:rPr lang="en-US" sz="2800" b="1" dirty="0">
                <a:latin typeface="Fry's Baskerville" panose="020B0604020202020204" charset="0"/>
              </a:rPr>
              <a:t>products with above-average sales</a:t>
            </a:r>
            <a:r>
              <a:rPr lang="en-US" sz="2800" dirty="0">
                <a:latin typeface="Fry's Baskerville" panose="020B0604020202020204" charset="0"/>
              </a:rPr>
              <a:t> → Strong performers </a:t>
            </a:r>
          </a:p>
          <a:p>
            <a:r>
              <a:rPr lang="en-US" sz="2800" dirty="0">
                <a:latin typeface="Fry's Baskerville" panose="020B0604020202020204" charset="0"/>
              </a:rPr>
              <a:t>Analyzed </a:t>
            </a:r>
            <a:r>
              <a:rPr lang="en-US" sz="2800" b="1" dirty="0">
                <a:latin typeface="Fry's Baskerville" panose="020B0604020202020204" charset="0"/>
              </a:rPr>
              <a:t>monthly demand (Jan–Dec)</a:t>
            </a:r>
            <a:r>
              <a:rPr lang="en-US" sz="2800" dirty="0">
                <a:latin typeface="Fry's Baskerville" panose="020B0604020202020204" charset="0"/>
              </a:rPr>
              <a:t> → Observed trends and seasonality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6666">
                <a:alpha val="26500"/>
              </a:srgbClr>
            </a:gs>
            <a:gs pos="100000">
              <a:srgbClr val="FFB569">
                <a:alpha val="23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3"/>
          <p:cNvSpPr txBox="1"/>
          <p:nvPr/>
        </p:nvSpPr>
        <p:spPr>
          <a:xfrm>
            <a:off x="1028700" y="9467850"/>
            <a:ext cx="1050584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 dirty="0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05</a:t>
            </a: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6D33273D-EFCD-0C63-5A13-7736E3C85A37}"/>
              </a:ext>
            </a:extLst>
          </p:cNvPr>
          <p:cNvSpPr txBox="1"/>
          <p:nvPr/>
        </p:nvSpPr>
        <p:spPr>
          <a:xfrm>
            <a:off x="5105400" y="342900"/>
            <a:ext cx="7450755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6000" b="1" dirty="0">
                <a:latin typeface="Fry's Baskerville" panose="020B0604020202020204" charset="0"/>
              </a:rPr>
              <a:t>Outputs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55D071B-2646-752A-2482-0F47DBFC7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35" y="1682266"/>
            <a:ext cx="4893867" cy="301756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B006265-0BAE-3076-D521-076300CA99CE}"/>
              </a:ext>
            </a:extLst>
          </p:cNvPr>
          <p:cNvSpPr txBox="1"/>
          <p:nvPr/>
        </p:nvSpPr>
        <p:spPr>
          <a:xfrm>
            <a:off x="639097" y="798420"/>
            <a:ext cx="48743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latin typeface="Fry's Baskerville" panose="020B0604020202020204" charset="0"/>
              </a:rPr>
              <a:t>Top 5 Revenue Generating Products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BA21C6-53F2-480C-2A8D-80C98C8DA261}"/>
              </a:ext>
            </a:extLst>
          </p:cNvPr>
          <p:cNvSpPr txBox="1"/>
          <p:nvPr/>
        </p:nvSpPr>
        <p:spPr>
          <a:xfrm>
            <a:off x="639097" y="4884505"/>
            <a:ext cx="42057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Fry's Baskerville" panose="020B0604020202020204" charset="0"/>
              </a:rPr>
              <a:t>2. Bottom 5 Products (Low Performance)</a:t>
            </a:r>
            <a:endParaRPr lang="en-IN" sz="2400" b="1" dirty="0">
              <a:latin typeface="Fry's Baskerville" panose="020B060402020202020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9BCB11E-93D8-9ACC-BFB4-91392F658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18" y="5900179"/>
            <a:ext cx="5566422" cy="273036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25BDD4D-F514-4F32-A31B-1895ADFB214B}"/>
              </a:ext>
            </a:extLst>
          </p:cNvPr>
          <p:cNvSpPr txBox="1"/>
          <p:nvPr/>
        </p:nvSpPr>
        <p:spPr>
          <a:xfrm>
            <a:off x="6629400" y="1866900"/>
            <a:ext cx="381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Fry's Baskerville" panose="020B0604020202020204" charset="0"/>
              </a:rPr>
              <a:t>3. Category-wise Revenue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3D1F4C1-6F04-8E78-FC8B-451E56674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639" y="2552700"/>
            <a:ext cx="4205748" cy="302656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2FAEDBD-14D2-1351-FB8E-DF38C1414706}"/>
              </a:ext>
            </a:extLst>
          </p:cNvPr>
          <p:cNvSpPr txBox="1"/>
          <p:nvPr/>
        </p:nvSpPr>
        <p:spPr>
          <a:xfrm>
            <a:off x="12039600" y="1035397"/>
            <a:ext cx="4495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Fry's Baskerville" panose="020B0604020202020204" charset="0"/>
              </a:rPr>
              <a:t>5. Average Price per Category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350A303-DD57-92C0-AB0C-9DAD7DA80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9600" y="1720365"/>
            <a:ext cx="4446899" cy="316413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1C7A629-AC95-6DA8-0C2F-1EE0C5D40B91}"/>
              </a:ext>
            </a:extLst>
          </p:cNvPr>
          <p:cNvSpPr txBox="1"/>
          <p:nvPr/>
        </p:nvSpPr>
        <p:spPr>
          <a:xfrm>
            <a:off x="7022690" y="6404071"/>
            <a:ext cx="381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Fry's Baskerville" panose="020B0604020202020204" charset="0"/>
              </a:rPr>
              <a:t>4. Highest Priced Product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B8E3FE19-7A7E-587B-92EE-5D41D1DA56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639" y="7253350"/>
            <a:ext cx="4957900" cy="177736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C3E442B-7E23-E80E-5DE6-6CFFA4F613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8550" y="6634903"/>
            <a:ext cx="4446898" cy="3238031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1F22AE32-A576-EDB0-239D-7BED9F3299E7}"/>
              </a:ext>
            </a:extLst>
          </p:cNvPr>
          <p:cNvSpPr txBox="1"/>
          <p:nvPr/>
        </p:nvSpPr>
        <p:spPr>
          <a:xfrm>
            <a:off x="12211194" y="5960425"/>
            <a:ext cx="518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Fry's Baskerville" panose="020B0604020202020204" charset="0"/>
              </a:rPr>
              <a:t>6. Create View for Category Summary</a:t>
            </a:r>
            <a:endParaRPr lang="en-IN" sz="2400" b="1" dirty="0">
              <a:latin typeface="Fry's Baskerville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FFD1">
                <a:alpha val="5000"/>
              </a:srgbClr>
            </a:gs>
            <a:gs pos="100000">
              <a:srgbClr val="FFB569">
                <a:alpha val="23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72716" y="487837"/>
            <a:ext cx="2053742" cy="354893"/>
            <a:chOff x="0" y="0"/>
            <a:chExt cx="1015246" cy="1754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5246" cy="175438"/>
            </a:xfrm>
            <a:custGeom>
              <a:avLst/>
              <a:gdLst/>
              <a:ahLst/>
              <a:cxnLst/>
              <a:rect l="l" t="t" r="r" b="b"/>
              <a:pathLst>
                <a:path w="1015246" h="175438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544459" y="487837"/>
            <a:ext cx="481998" cy="354893"/>
            <a:chOff x="0" y="0"/>
            <a:chExt cx="238271" cy="175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271" cy="175438"/>
            </a:xfrm>
            <a:custGeom>
              <a:avLst/>
              <a:gdLst/>
              <a:ahLst/>
              <a:cxnLst/>
              <a:rect l="l" t="t" r="r" b="b"/>
              <a:pathLst>
                <a:path w="238271" h="175438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FFFFF">
                <a:alpha val="8392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75410" y="619366"/>
            <a:ext cx="220097" cy="91835"/>
          </a:xfrm>
          <a:custGeom>
            <a:avLst/>
            <a:gdLst/>
            <a:ahLst/>
            <a:cxnLst/>
            <a:rect l="l" t="t" r="r" b="b"/>
            <a:pathLst>
              <a:path w="220097" h="91835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00632" y="9163363"/>
            <a:ext cx="1558668" cy="189874"/>
          </a:xfrm>
          <a:custGeom>
            <a:avLst/>
            <a:gdLst/>
            <a:ahLst/>
            <a:cxnLst/>
            <a:rect l="l" t="t" r="r" b="b"/>
            <a:pathLst>
              <a:path w="1558668" h="189874">
                <a:moveTo>
                  <a:pt x="0" y="0"/>
                </a:moveTo>
                <a:lnTo>
                  <a:pt x="1558668" y="0"/>
                </a:lnTo>
                <a:lnTo>
                  <a:pt x="1558668" y="189874"/>
                </a:lnTo>
                <a:lnTo>
                  <a:pt x="0" y="189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699139" y="1028700"/>
            <a:ext cx="1398278" cy="139827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-122182" y="6724176"/>
            <a:ext cx="821321" cy="2168576"/>
          </a:xfrm>
          <a:custGeom>
            <a:avLst/>
            <a:gdLst/>
            <a:ahLst/>
            <a:cxnLst/>
            <a:rect l="l" t="t" r="r" b="b"/>
            <a:pathLst>
              <a:path w="821321" h="2168576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3885075" y="1468169"/>
            <a:ext cx="9992760" cy="999276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5596239" y="2263159"/>
            <a:ext cx="6741393" cy="7566870"/>
          </a:xfrm>
          <a:custGeom>
            <a:avLst/>
            <a:gdLst/>
            <a:ahLst/>
            <a:cxnLst/>
            <a:rect l="l" t="t" r="r" b="b"/>
            <a:pathLst>
              <a:path w="6741393" h="7566870">
                <a:moveTo>
                  <a:pt x="0" y="0"/>
                </a:moveTo>
                <a:lnTo>
                  <a:pt x="6741394" y="0"/>
                </a:lnTo>
                <a:lnTo>
                  <a:pt x="6741394" y="7566870"/>
                </a:lnTo>
                <a:lnTo>
                  <a:pt x="0" y="75668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017397" y="582009"/>
            <a:ext cx="10253204" cy="766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sz="7200" b="1" dirty="0">
                <a:solidFill>
                  <a:srgbClr val="252525"/>
                </a:solidFill>
                <a:latin typeface="Fry's Baskerville" panose="020B0604020202020204" charset="0"/>
                <a:sym typeface="Luckiest Guy"/>
              </a:rPr>
              <a:t>Insights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972716" y="591810"/>
            <a:ext cx="1571743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9467850"/>
            <a:ext cx="1050584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 dirty="0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06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7259300" y="1074195"/>
            <a:ext cx="1912751" cy="1912751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sp>
        <p:nvSpPr>
          <p:cNvPr id="28" name="Rectangle 1">
            <a:extLst>
              <a:ext uri="{FF2B5EF4-FFF2-40B4-BE49-F238E27FC236}">
                <a16:creationId xmlns:a16="http://schemas.microsoft.com/office/drawing/2014/main" id="{423446E8-5F95-749E-9F35-2D63E207B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5084441" cy="738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9CD5BAD7-4D83-5150-8B8A-F290A9739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5059" y="1684393"/>
            <a:ext cx="3660305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y's Baskerville" panose="020B060402020202020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y's Baskerville" panose="020B0604020202020204" charset="0"/>
              </a:rPr>
              <a:t>Identified Top 5 revenue-generating products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y's Baskerville" panose="020B0604020202020204" charset="0"/>
              </a:rPr>
              <a:t>Detected Bottom 5 low-performing products 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3200" dirty="0"/>
              <a:t>Found category-wise revenue contribution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 dirty="0">
                <a:latin typeface="Fry's Baskerville" panose="020B0604020202020204" charset="0"/>
              </a:rPr>
              <a:t>Calculated average price per category 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y's Baskerville" panose="020B0604020202020204" charset="0"/>
            </a:endParaRPr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789F456B-B380-CE2C-5FC9-2C9B631EBAC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759382" y="1704291"/>
            <a:ext cx="4635637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y's Baskerville" panose="020B060402020202020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y's Baskerville" panose="020B0604020202020204" charset="0"/>
              </a:rPr>
              <a:t>Identified highest priced product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y's Baskerville" panose="020B0604020202020204" charset="0"/>
              </a:rPr>
              <a:t>Found products with above-average sales performance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y's Baskerville" panose="020B0604020202020204" charset="0"/>
              </a:rPr>
              <a:t>Observed monthly demand patterns across the year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 dirty="0">
              <a:latin typeface="Fry's Baskerville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latin typeface="Fry's Baskerville" panose="020B0604020202020204" charset="0"/>
              </a:rPr>
              <a:t>These insights help businesses improve strategy and decision-making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y's Baskerville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31000"/>
              </a:srgbClr>
            </a:gs>
            <a:gs pos="100000">
              <a:srgbClr val="FF8266">
                <a:alpha val="34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72716" y="487837"/>
            <a:ext cx="2053742" cy="354893"/>
            <a:chOff x="0" y="0"/>
            <a:chExt cx="1015246" cy="1754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5246" cy="175438"/>
            </a:xfrm>
            <a:custGeom>
              <a:avLst/>
              <a:gdLst/>
              <a:ahLst/>
              <a:cxnLst/>
              <a:rect l="l" t="t" r="r" b="b"/>
              <a:pathLst>
                <a:path w="1015246" h="175438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544459" y="487837"/>
            <a:ext cx="481998" cy="354893"/>
            <a:chOff x="0" y="0"/>
            <a:chExt cx="238271" cy="175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271" cy="175438"/>
            </a:xfrm>
            <a:custGeom>
              <a:avLst/>
              <a:gdLst/>
              <a:ahLst/>
              <a:cxnLst/>
              <a:rect l="l" t="t" r="r" b="b"/>
              <a:pathLst>
                <a:path w="238271" h="175438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FFFFF">
                <a:alpha val="83922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75410" y="619366"/>
            <a:ext cx="220097" cy="91835"/>
          </a:xfrm>
          <a:custGeom>
            <a:avLst/>
            <a:gdLst/>
            <a:ahLst/>
            <a:cxnLst/>
            <a:rect l="l" t="t" r="r" b="b"/>
            <a:pathLst>
              <a:path w="220097" h="91835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2595187" y="1791473"/>
            <a:ext cx="8593148" cy="859314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944529" y="8082885"/>
            <a:ext cx="3420413" cy="342041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1587460"/>
            <a:ext cx="1398278" cy="1398278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631708" y="8351780"/>
            <a:ext cx="906520" cy="90652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7551749" y="6724176"/>
            <a:ext cx="821321" cy="2168576"/>
          </a:xfrm>
          <a:custGeom>
            <a:avLst/>
            <a:gdLst/>
            <a:ahLst/>
            <a:cxnLst/>
            <a:rect l="l" t="t" r="r" b="b"/>
            <a:pathLst>
              <a:path w="821321" h="2168576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-275516" y="3132259"/>
            <a:ext cx="7136057" cy="7433393"/>
          </a:xfrm>
          <a:custGeom>
            <a:avLst/>
            <a:gdLst/>
            <a:ahLst/>
            <a:cxnLst/>
            <a:rect l="l" t="t" r="r" b="b"/>
            <a:pathLst>
              <a:path w="7136057" h="7433393">
                <a:moveTo>
                  <a:pt x="0" y="0"/>
                </a:moveTo>
                <a:lnTo>
                  <a:pt x="7136057" y="0"/>
                </a:lnTo>
                <a:lnTo>
                  <a:pt x="7136057" y="7433393"/>
                </a:lnTo>
                <a:lnTo>
                  <a:pt x="0" y="7433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4972716" y="591810"/>
            <a:ext cx="1571743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31526" y="1655527"/>
            <a:ext cx="7450755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6000" b="1" dirty="0">
                <a:latin typeface="Fry's Baskerville" panose="020B0604020202020204" charset="0"/>
              </a:rPr>
              <a:t>Future Scope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501165" y="9467850"/>
            <a:ext cx="1050584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 dirty="0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68800" y="3607322"/>
            <a:ext cx="8460284" cy="393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3200" dirty="0">
                <a:latin typeface="Fry's Baskerville" panose="020B0604020202020204" charset="0"/>
              </a:rPr>
              <a:t>Integrate SQL results with Power BI for visualization 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3200" dirty="0">
                <a:latin typeface="Fry's Baskerville" panose="020B0604020202020204" charset="0"/>
              </a:rPr>
              <a:t>Add real-time sales data for live analysis 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3200" dirty="0">
                <a:latin typeface="Fry's Baskerville" panose="020B0604020202020204" charset="0"/>
              </a:rPr>
              <a:t>Perform predictive analysis using machine learning 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3200" dirty="0">
                <a:latin typeface="Fry's Baskerville" panose="020B0604020202020204" charset="0"/>
              </a:rPr>
              <a:t>Expand dataset with customer and regional data 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3200" dirty="0">
                <a:latin typeface="Fry's Baskerville" panose="020B0604020202020204" charset="0"/>
              </a:rPr>
              <a:t>Build dashboards for business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DE59">
                <a:alpha val="31000"/>
              </a:srgbClr>
            </a:gs>
            <a:gs pos="100000">
              <a:srgbClr val="FF8266">
                <a:alpha val="34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AF4C6-668C-E186-3C46-C05F40DE9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DB3BE5-1986-6595-988F-579091D49217}"/>
              </a:ext>
            </a:extLst>
          </p:cNvPr>
          <p:cNvGrpSpPr/>
          <p:nvPr/>
        </p:nvGrpSpPr>
        <p:grpSpPr>
          <a:xfrm>
            <a:off x="14972716" y="487837"/>
            <a:ext cx="2053742" cy="354893"/>
            <a:chOff x="0" y="0"/>
            <a:chExt cx="1015246" cy="17543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413EA0D-E49C-16E1-6BD1-982EE436EE92}"/>
                </a:ext>
              </a:extLst>
            </p:cNvPr>
            <p:cNvSpPr/>
            <p:nvPr/>
          </p:nvSpPr>
          <p:spPr>
            <a:xfrm>
              <a:off x="0" y="0"/>
              <a:ext cx="1015246" cy="175438"/>
            </a:xfrm>
            <a:custGeom>
              <a:avLst/>
              <a:gdLst/>
              <a:ahLst/>
              <a:cxnLst/>
              <a:rect l="l" t="t" r="r" b="b"/>
              <a:pathLst>
                <a:path w="1015246" h="175438">
                  <a:moveTo>
                    <a:pt x="41466" y="0"/>
                  </a:moveTo>
                  <a:lnTo>
                    <a:pt x="973780" y="0"/>
                  </a:lnTo>
                  <a:cubicBezTo>
                    <a:pt x="984778" y="0"/>
                    <a:pt x="995325" y="4369"/>
                    <a:pt x="1003101" y="12145"/>
                  </a:cubicBezTo>
                  <a:cubicBezTo>
                    <a:pt x="1010878" y="19922"/>
                    <a:pt x="1015246" y="30469"/>
                    <a:pt x="1015246" y="41466"/>
                  </a:cubicBezTo>
                  <a:lnTo>
                    <a:pt x="1015246" y="133971"/>
                  </a:lnTo>
                  <a:cubicBezTo>
                    <a:pt x="1015246" y="156873"/>
                    <a:pt x="996681" y="175438"/>
                    <a:pt x="973780" y="175438"/>
                  </a:cubicBezTo>
                  <a:lnTo>
                    <a:pt x="41466" y="175438"/>
                  </a:lnTo>
                  <a:cubicBezTo>
                    <a:pt x="30469" y="175438"/>
                    <a:pt x="19922" y="171069"/>
                    <a:pt x="12145" y="163293"/>
                  </a:cubicBezTo>
                  <a:cubicBezTo>
                    <a:pt x="4369" y="155516"/>
                    <a:pt x="0" y="144969"/>
                    <a:pt x="0" y="133971"/>
                  </a:cubicBezTo>
                  <a:lnTo>
                    <a:pt x="0" y="41466"/>
                  </a:lnTo>
                  <a:cubicBezTo>
                    <a:pt x="0" y="30469"/>
                    <a:pt x="4369" y="19922"/>
                    <a:pt x="12145" y="12145"/>
                  </a:cubicBezTo>
                  <a:cubicBezTo>
                    <a:pt x="19922" y="4369"/>
                    <a:pt x="30469" y="0"/>
                    <a:pt x="41466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AE6101A-A9D2-6C93-99F0-96A4B39AA311}"/>
                </a:ext>
              </a:extLst>
            </p:cNvPr>
            <p:cNvSpPr txBox="1"/>
            <p:nvPr/>
          </p:nvSpPr>
          <p:spPr>
            <a:xfrm>
              <a:off x="0" y="-38100"/>
              <a:ext cx="1015246" cy="213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368A2FA-BE1D-CA89-0E57-0C05F5A39BA5}"/>
              </a:ext>
            </a:extLst>
          </p:cNvPr>
          <p:cNvGrpSpPr/>
          <p:nvPr/>
        </p:nvGrpSpPr>
        <p:grpSpPr>
          <a:xfrm>
            <a:off x="16544459" y="487837"/>
            <a:ext cx="481998" cy="354893"/>
            <a:chOff x="0" y="0"/>
            <a:chExt cx="238271" cy="1754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F2D3F72-4FEC-4091-99E9-86A75F99ADB2}"/>
                </a:ext>
              </a:extLst>
            </p:cNvPr>
            <p:cNvSpPr/>
            <p:nvPr/>
          </p:nvSpPr>
          <p:spPr>
            <a:xfrm>
              <a:off x="0" y="0"/>
              <a:ext cx="238271" cy="175438"/>
            </a:xfrm>
            <a:custGeom>
              <a:avLst/>
              <a:gdLst/>
              <a:ahLst/>
              <a:cxnLst/>
              <a:rect l="l" t="t" r="r" b="b"/>
              <a:pathLst>
                <a:path w="238271" h="175438">
                  <a:moveTo>
                    <a:pt x="87719" y="0"/>
                  </a:moveTo>
                  <a:lnTo>
                    <a:pt x="150552" y="0"/>
                  </a:lnTo>
                  <a:cubicBezTo>
                    <a:pt x="198998" y="0"/>
                    <a:pt x="238271" y="39273"/>
                    <a:pt x="238271" y="87719"/>
                  </a:cubicBezTo>
                  <a:lnTo>
                    <a:pt x="238271" y="87719"/>
                  </a:lnTo>
                  <a:cubicBezTo>
                    <a:pt x="238271" y="136165"/>
                    <a:pt x="198998" y="175438"/>
                    <a:pt x="150552" y="175438"/>
                  </a:cubicBezTo>
                  <a:lnTo>
                    <a:pt x="87719" y="175438"/>
                  </a:lnTo>
                  <a:cubicBezTo>
                    <a:pt x="39273" y="175438"/>
                    <a:pt x="0" y="136165"/>
                    <a:pt x="0" y="87719"/>
                  </a:cubicBezTo>
                  <a:lnTo>
                    <a:pt x="0" y="87719"/>
                  </a:lnTo>
                  <a:cubicBezTo>
                    <a:pt x="0" y="39273"/>
                    <a:pt x="39273" y="0"/>
                    <a:pt x="87719" y="0"/>
                  </a:cubicBezTo>
                  <a:close/>
                </a:path>
              </a:pathLst>
            </a:custGeom>
            <a:solidFill>
              <a:srgbClr val="FFFFFF">
                <a:alpha val="83922"/>
              </a:srgbClr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B08A491-37F9-5113-FC01-64A2CAC495DC}"/>
                </a:ext>
              </a:extLst>
            </p:cNvPr>
            <p:cNvSpPr txBox="1"/>
            <p:nvPr/>
          </p:nvSpPr>
          <p:spPr>
            <a:xfrm>
              <a:off x="0" y="-38100"/>
              <a:ext cx="238271" cy="213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8DAE998-237E-10AA-2D37-27E07F178216}"/>
              </a:ext>
            </a:extLst>
          </p:cNvPr>
          <p:cNvSpPr/>
          <p:nvPr/>
        </p:nvSpPr>
        <p:spPr>
          <a:xfrm>
            <a:off x="16675410" y="619366"/>
            <a:ext cx="220097" cy="91835"/>
          </a:xfrm>
          <a:custGeom>
            <a:avLst/>
            <a:gdLst/>
            <a:ahLst/>
            <a:cxnLst/>
            <a:rect l="l" t="t" r="r" b="b"/>
            <a:pathLst>
              <a:path w="220097" h="91835">
                <a:moveTo>
                  <a:pt x="0" y="0"/>
                </a:moveTo>
                <a:lnTo>
                  <a:pt x="220097" y="0"/>
                </a:lnTo>
                <a:lnTo>
                  <a:pt x="220097" y="91834"/>
                </a:lnTo>
                <a:lnTo>
                  <a:pt x="0" y="918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ABEAADAD-B365-9671-CA99-369BD9020727}"/>
              </a:ext>
            </a:extLst>
          </p:cNvPr>
          <p:cNvGrpSpPr/>
          <p:nvPr/>
        </p:nvGrpSpPr>
        <p:grpSpPr>
          <a:xfrm>
            <a:off x="9753600" y="1326297"/>
            <a:ext cx="10777804" cy="9023440"/>
            <a:chOff x="-282840" y="-116900"/>
            <a:chExt cx="1019440" cy="8535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E383BA4-ED7B-9883-DFDC-1C03CEB818B0}"/>
                </a:ext>
              </a:extLst>
            </p:cNvPr>
            <p:cNvSpPr/>
            <p:nvPr/>
          </p:nvSpPr>
          <p:spPr>
            <a:xfrm>
              <a:off x="-282840" y="-11690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8ECA085-9EE4-F690-65D1-D6C87DCDF404}"/>
                </a:ext>
              </a:extLst>
            </p:cNvPr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3ED0B20A-684D-4A71-CF76-2B1ABB941AA7}"/>
              </a:ext>
            </a:extLst>
          </p:cNvPr>
          <p:cNvGrpSpPr/>
          <p:nvPr/>
        </p:nvGrpSpPr>
        <p:grpSpPr>
          <a:xfrm>
            <a:off x="-1784814" y="5602020"/>
            <a:ext cx="3420413" cy="4241948"/>
            <a:chOff x="-17729" y="-271423"/>
            <a:chExt cx="812800" cy="100802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2A1A6BA-AD39-15B0-5080-31D1F563C6C1}"/>
                </a:ext>
              </a:extLst>
            </p:cNvPr>
            <p:cNvSpPr/>
            <p:nvPr/>
          </p:nvSpPr>
          <p:spPr>
            <a:xfrm>
              <a:off x="-17729" y="-271423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2C61A0F-C15B-6C73-EBC8-9058A339FB82}"/>
                </a:ext>
              </a:extLst>
            </p:cNvPr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816BDDF5-1136-54E9-0AD1-E874E313563D}"/>
              </a:ext>
            </a:extLst>
          </p:cNvPr>
          <p:cNvGrpSpPr/>
          <p:nvPr/>
        </p:nvGrpSpPr>
        <p:grpSpPr>
          <a:xfrm>
            <a:off x="17259300" y="1587460"/>
            <a:ext cx="1398278" cy="1398278"/>
            <a:chOff x="0" y="0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54DA9FE3-C57C-68A9-EF07-8B636A2856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C1804A3E-C226-A41D-51F9-C197A3039456}"/>
                </a:ext>
              </a:extLst>
            </p:cNvPr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E9FF6737-7BC7-058D-3E69-04142A92A29D}"/>
              </a:ext>
            </a:extLst>
          </p:cNvPr>
          <p:cNvGrpSpPr/>
          <p:nvPr/>
        </p:nvGrpSpPr>
        <p:grpSpPr>
          <a:xfrm>
            <a:off x="1036337" y="9372059"/>
            <a:ext cx="906520" cy="906520"/>
            <a:chOff x="0" y="0"/>
            <a:chExt cx="812800" cy="8128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D0F39B5B-B394-37F3-D204-04944657E0C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E6F2573C-1703-6A2C-85A3-B771650D4BAE}"/>
                </a:ext>
              </a:extLst>
            </p:cNvPr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FE51A634-6524-95B1-1615-A545E7FE71D7}"/>
              </a:ext>
            </a:extLst>
          </p:cNvPr>
          <p:cNvSpPr/>
          <p:nvPr/>
        </p:nvSpPr>
        <p:spPr>
          <a:xfrm>
            <a:off x="11376732" y="54773"/>
            <a:ext cx="821321" cy="2168576"/>
          </a:xfrm>
          <a:custGeom>
            <a:avLst/>
            <a:gdLst/>
            <a:ahLst/>
            <a:cxnLst/>
            <a:rect l="l" t="t" r="r" b="b"/>
            <a:pathLst>
              <a:path w="821321" h="2168576">
                <a:moveTo>
                  <a:pt x="0" y="0"/>
                </a:moveTo>
                <a:lnTo>
                  <a:pt x="821321" y="0"/>
                </a:lnTo>
                <a:lnTo>
                  <a:pt x="821321" y="2168576"/>
                </a:lnTo>
                <a:lnTo>
                  <a:pt x="0" y="2168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3B9971F3-8884-68B4-3C7B-24C4EADC19A6}"/>
              </a:ext>
            </a:extLst>
          </p:cNvPr>
          <p:cNvSpPr/>
          <p:nvPr/>
        </p:nvSpPr>
        <p:spPr>
          <a:xfrm>
            <a:off x="10726907" y="2215806"/>
            <a:ext cx="7136057" cy="7433393"/>
          </a:xfrm>
          <a:custGeom>
            <a:avLst/>
            <a:gdLst/>
            <a:ahLst/>
            <a:cxnLst/>
            <a:rect l="l" t="t" r="r" b="b"/>
            <a:pathLst>
              <a:path w="7136057" h="7433393">
                <a:moveTo>
                  <a:pt x="0" y="0"/>
                </a:moveTo>
                <a:lnTo>
                  <a:pt x="7136057" y="0"/>
                </a:lnTo>
                <a:lnTo>
                  <a:pt x="7136057" y="7433393"/>
                </a:lnTo>
                <a:lnTo>
                  <a:pt x="0" y="7433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12C9C71-425D-405B-8B41-23F1558934C2}"/>
              </a:ext>
            </a:extLst>
          </p:cNvPr>
          <p:cNvSpPr txBox="1"/>
          <p:nvPr/>
        </p:nvSpPr>
        <p:spPr>
          <a:xfrm>
            <a:off x="14972716" y="591810"/>
            <a:ext cx="1571743" cy="1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lang="en-US" sz="1220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 SLIDE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4A5E686-3A98-60E9-B209-AA48A85900C8}"/>
              </a:ext>
            </a:extLst>
          </p:cNvPr>
          <p:cNvSpPr txBox="1"/>
          <p:nvPr/>
        </p:nvSpPr>
        <p:spPr>
          <a:xfrm>
            <a:off x="-745155" y="909921"/>
            <a:ext cx="7450755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6000" b="1" dirty="0">
                <a:latin typeface="Fry's Baskerville" panose="020B0604020202020204" charset="0"/>
              </a:rPr>
              <a:t>Conclusion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0F2E1E0-CF3F-8022-6D5E-C477FB143746}"/>
              </a:ext>
            </a:extLst>
          </p:cNvPr>
          <p:cNvSpPr txBox="1"/>
          <p:nvPr/>
        </p:nvSpPr>
        <p:spPr>
          <a:xfrm>
            <a:off x="1577987" y="9524904"/>
            <a:ext cx="1050584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5363" spc="423" dirty="0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07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CF2C07EB-3EC9-9815-F180-474A9ACAB978}"/>
              </a:ext>
            </a:extLst>
          </p:cNvPr>
          <p:cNvSpPr txBox="1"/>
          <p:nvPr/>
        </p:nvSpPr>
        <p:spPr>
          <a:xfrm>
            <a:off x="720575" y="2854649"/>
            <a:ext cx="8460284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Fry's Baskerville" panose="020B0604020202020204" charset="0"/>
              </a:rPr>
              <a:t>Successfully built a SQL-based retail analysis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Fry's Baskerville" panose="020B0604020202020204" charset="0"/>
              </a:rPr>
              <a:t>Converted raw data into actionable insights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Fry's Baskerville" panose="020B0604020202020204" charset="0"/>
              </a:rPr>
              <a:t>Demonstrated strong SQL skills (aggregation, grouping, subqueries)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Fry's Baskerville" panose="020B0604020202020204" charset="0"/>
              </a:rPr>
              <a:t>Enabled better understanding of product and revenue performance </a:t>
            </a:r>
          </a:p>
          <a:p>
            <a:r>
              <a:rPr lang="en-US" sz="3200" dirty="0" err="1">
                <a:latin typeface="Fry's Baskerville" panose="020B0604020202020204" charset="0"/>
              </a:rPr>
              <a:t>SalesSpectrum</a:t>
            </a:r>
            <a:r>
              <a:rPr lang="en-US" sz="3200" dirty="0">
                <a:latin typeface="Fry's Baskerville" panose="020B0604020202020204" charset="0"/>
              </a:rPr>
              <a:t> provides a complete overview of sales and demand trends</a:t>
            </a:r>
          </a:p>
        </p:txBody>
      </p:sp>
    </p:spTree>
    <p:extLst>
      <p:ext uri="{BB962C8B-B14F-4D97-AF65-F5344CB8AC3E}">
        <p14:creationId xmlns:p14="http://schemas.microsoft.com/office/powerpoint/2010/main" val="2462418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8266">
                <a:alpha val="51000"/>
              </a:srgbClr>
            </a:gs>
            <a:gs pos="100000">
              <a:srgbClr val="FFDE59">
                <a:alpha val="205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32415" y="3288795"/>
            <a:ext cx="8823170" cy="7251042"/>
          </a:xfrm>
          <a:custGeom>
            <a:avLst/>
            <a:gdLst/>
            <a:ahLst/>
            <a:cxnLst/>
            <a:rect l="l" t="t" r="r" b="b"/>
            <a:pathLst>
              <a:path w="8823170" h="7251042">
                <a:moveTo>
                  <a:pt x="0" y="0"/>
                </a:moveTo>
                <a:lnTo>
                  <a:pt x="8823170" y="0"/>
                </a:lnTo>
                <a:lnTo>
                  <a:pt x="8823170" y="7251042"/>
                </a:lnTo>
                <a:lnTo>
                  <a:pt x="0" y="7251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7989">
            <a:off x="15084686" y="6715833"/>
            <a:ext cx="1146209" cy="1093913"/>
          </a:xfrm>
          <a:custGeom>
            <a:avLst/>
            <a:gdLst/>
            <a:ahLst/>
            <a:cxnLst/>
            <a:rect l="l" t="t" r="r" b="b"/>
            <a:pathLst>
              <a:path w="1146209" h="1093913">
                <a:moveTo>
                  <a:pt x="0" y="0"/>
                </a:moveTo>
                <a:lnTo>
                  <a:pt x="1146209" y="0"/>
                </a:lnTo>
                <a:lnTo>
                  <a:pt x="1146209" y="1093913"/>
                </a:lnTo>
                <a:lnTo>
                  <a:pt x="0" y="1093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79065" y="6023887"/>
            <a:ext cx="4402635" cy="4402635"/>
          </a:xfrm>
          <a:custGeom>
            <a:avLst/>
            <a:gdLst/>
            <a:ahLst/>
            <a:cxnLst/>
            <a:rect l="l" t="t" r="r" b="b"/>
            <a:pathLst>
              <a:path w="4402635" h="4402635">
                <a:moveTo>
                  <a:pt x="4402635" y="0"/>
                </a:moveTo>
                <a:lnTo>
                  <a:pt x="0" y="0"/>
                </a:lnTo>
                <a:lnTo>
                  <a:pt x="0" y="4402635"/>
                </a:lnTo>
                <a:lnTo>
                  <a:pt x="4402635" y="4402635"/>
                </a:lnTo>
                <a:lnTo>
                  <a:pt x="44026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66743" y="3535290"/>
            <a:ext cx="2562396" cy="2243591"/>
          </a:xfrm>
          <a:custGeom>
            <a:avLst/>
            <a:gdLst/>
            <a:ahLst/>
            <a:cxnLst/>
            <a:rect l="l" t="t" r="r" b="b"/>
            <a:pathLst>
              <a:path w="2562396" h="2243591">
                <a:moveTo>
                  <a:pt x="0" y="0"/>
                </a:moveTo>
                <a:lnTo>
                  <a:pt x="2562396" y="0"/>
                </a:lnTo>
                <a:lnTo>
                  <a:pt x="2562396" y="2243591"/>
                </a:lnTo>
                <a:lnTo>
                  <a:pt x="0" y="22435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164430" y="6023887"/>
            <a:ext cx="4402635" cy="4402635"/>
          </a:xfrm>
          <a:custGeom>
            <a:avLst/>
            <a:gdLst/>
            <a:ahLst/>
            <a:cxnLst/>
            <a:rect l="l" t="t" r="r" b="b"/>
            <a:pathLst>
              <a:path w="4402635" h="4402635">
                <a:moveTo>
                  <a:pt x="0" y="0"/>
                </a:moveTo>
                <a:lnTo>
                  <a:pt x="4402635" y="0"/>
                </a:lnTo>
                <a:lnTo>
                  <a:pt x="4402635" y="4402635"/>
                </a:lnTo>
                <a:lnTo>
                  <a:pt x="0" y="4402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631219" y="1228725"/>
            <a:ext cx="9025562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8"/>
              </a:lnSpc>
            </a:pPr>
            <a:r>
              <a:rPr lang="en-US" sz="8800" b="1" dirty="0">
                <a:solidFill>
                  <a:srgbClr val="252525"/>
                </a:solidFill>
                <a:latin typeface="Fry's Baskerville" panose="020B0604020202020204" charset="0"/>
                <a:ea typeface="Luckiest Guy"/>
                <a:cs typeface="Luckiest Guy"/>
                <a:sym typeface="Luckiest Guy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 rot="1204850">
            <a:off x="2288557" y="6766434"/>
            <a:ext cx="1118768" cy="1306417"/>
          </a:xfrm>
          <a:custGeom>
            <a:avLst/>
            <a:gdLst/>
            <a:ahLst/>
            <a:cxnLst/>
            <a:rect l="l" t="t" r="r" b="b"/>
            <a:pathLst>
              <a:path w="1118768" h="1306417">
                <a:moveTo>
                  <a:pt x="0" y="0"/>
                </a:moveTo>
                <a:lnTo>
                  <a:pt x="1118768" y="0"/>
                </a:lnTo>
                <a:lnTo>
                  <a:pt x="1118768" y="1306418"/>
                </a:lnTo>
                <a:lnTo>
                  <a:pt x="0" y="1306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892771" flipH="1">
            <a:off x="15098406" y="2882082"/>
            <a:ext cx="1118768" cy="1306417"/>
          </a:xfrm>
          <a:custGeom>
            <a:avLst/>
            <a:gdLst/>
            <a:ahLst/>
            <a:cxnLst/>
            <a:rect l="l" t="t" r="r" b="b"/>
            <a:pathLst>
              <a:path w="1118768" h="1306417">
                <a:moveTo>
                  <a:pt x="1118768" y="0"/>
                </a:moveTo>
                <a:lnTo>
                  <a:pt x="0" y="0"/>
                </a:lnTo>
                <a:lnTo>
                  <a:pt x="0" y="1306417"/>
                </a:lnTo>
                <a:lnTo>
                  <a:pt x="1118768" y="1306417"/>
                </a:lnTo>
                <a:lnTo>
                  <a:pt x="111876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476257" y="1270514"/>
            <a:ext cx="1011481" cy="101148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102" y="2685952"/>
            <a:ext cx="849339" cy="84933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15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8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418</Words>
  <Application>Microsoft Office PowerPoint</Application>
  <PresentationFormat>Custom</PresentationFormat>
  <Paragraphs>93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Open Sans</vt:lpstr>
      <vt:lpstr>Fry's Baskerville</vt:lpstr>
      <vt:lpstr>Open Sans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Fatima Shaikh</dc:creator>
  <cp:lastModifiedBy>Fatima Shaikh</cp:lastModifiedBy>
  <cp:revision>5</cp:revision>
  <dcterms:created xsi:type="dcterms:W3CDTF">2006-08-16T00:00:00Z</dcterms:created>
  <dcterms:modified xsi:type="dcterms:W3CDTF">2026-04-10T15:10:20Z</dcterms:modified>
  <dc:identifier>DAHGYwJn6kg</dc:identifier>
</cp:coreProperties>
</file>